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6" r:id="rId8"/>
    <p:sldId id="267" r:id="rId9"/>
    <p:sldId id="268" r:id="rId10"/>
    <p:sldId id="269"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359836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008024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3005707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940E48-85B5-4423-8645-7893F029767B}"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335398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B940E48-85B5-4423-8645-7893F029767B}" type="datetimeFigureOut">
              <a:rPr lang="en-IN" smtClean="0"/>
              <a:t>26-08-2026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3786599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B940E48-85B5-4423-8645-7893F029767B}" type="datetimeFigureOut">
              <a:rPr lang="en-IN" smtClean="0"/>
              <a:t>26-08-2026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4228451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940E48-85B5-4423-8645-7893F029767B}" type="datetimeFigureOut">
              <a:rPr lang="en-IN" smtClean="0"/>
              <a:t>26-08-2026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1410422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B940E48-85B5-4423-8645-7893F029767B}"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015279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B940E48-85B5-4423-8645-7893F029767B}"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887179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307773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21513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435622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35438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382235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2628743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B940E48-85B5-4423-8645-7893F029767B}"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23926E0-C510-4241-A20D-A2FC5703E8DC}" type="slidenum">
              <a:rPr lang="en-IN" smtClean="0"/>
              <a:t>‹#›</a:t>
            </a:fld>
            <a:endParaRPr lang="en-IN"/>
          </a:p>
        </p:txBody>
      </p:sp>
    </p:spTree>
    <p:extLst>
      <p:ext uri="{BB962C8B-B14F-4D97-AF65-F5344CB8AC3E}">
        <p14:creationId xmlns:p14="http://schemas.microsoft.com/office/powerpoint/2010/main" val="4177597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B940E48-85B5-4423-8645-7893F029767B}" type="datetimeFigureOut">
              <a:rPr lang="en-IN" smtClean="0"/>
              <a:t>26-08-2026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23926E0-C510-4241-A20D-A2FC5703E8DC}" type="slidenum">
              <a:rPr lang="en-IN" smtClean="0"/>
              <a:t>‹#›</a:t>
            </a:fld>
            <a:endParaRPr lang="en-IN"/>
          </a:p>
        </p:txBody>
      </p:sp>
    </p:spTree>
    <p:extLst>
      <p:ext uri="{BB962C8B-B14F-4D97-AF65-F5344CB8AC3E}">
        <p14:creationId xmlns:p14="http://schemas.microsoft.com/office/powerpoint/2010/main" val="978351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archive.ics.uci.edu/dataset/174/parkinson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44190"/>
            <a:ext cx="9144000" cy="2387600"/>
          </a:xfrm>
        </p:spPr>
        <p:txBody>
          <a:bodyPr>
            <a:normAutofit fontScale="90000"/>
          </a:bodyPr>
          <a:lstStyle/>
          <a:p>
            <a:r>
              <a:rPr lang="en-IN" dirty="0" smtClean="0"/>
              <a:t>Parkinson’s Disease Prediction Using Machine Learning</a:t>
            </a:r>
            <a:endParaRPr lang="en-IN" dirty="0"/>
          </a:p>
        </p:txBody>
      </p:sp>
      <p:sp>
        <p:nvSpPr>
          <p:cNvPr id="3" name="Subtitle 2"/>
          <p:cNvSpPr>
            <a:spLocks noGrp="1"/>
          </p:cNvSpPr>
          <p:nvPr>
            <p:ph type="subTitle" idx="1"/>
          </p:nvPr>
        </p:nvSpPr>
        <p:spPr>
          <a:xfrm>
            <a:off x="3048000" y="4633884"/>
            <a:ext cx="9144000" cy="1655762"/>
          </a:xfrm>
        </p:spPr>
        <p:txBody>
          <a:bodyPr/>
          <a:lstStyle/>
          <a:p>
            <a:pPr algn="r"/>
            <a:r>
              <a:rPr lang="en-IN" dirty="0" smtClean="0">
                <a:solidFill>
                  <a:schemeClr val="tx1"/>
                </a:solidFill>
              </a:rPr>
              <a:t>Submitted by-</a:t>
            </a:r>
          </a:p>
          <a:p>
            <a:pPr algn="r"/>
            <a:r>
              <a:rPr lang="en-IN" dirty="0" smtClean="0">
                <a:solidFill>
                  <a:schemeClr val="tx1"/>
                </a:solidFill>
              </a:rPr>
              <a:t>Arijeet Purkayastha</a:t>
            </a:r>
          </a:p>
          <a:p>
            <a:pPr algn="r"/>
            <a:r>
              <a:rPr lang="en-IN" dirty="0" smtClean="0">
                <a:solidFill>
                  <a:schemeClr val="tx1"/>
                </a:solidFill>
              </a:rPr>
              <a:t>Girijananda Chowdhury University , Guwahati</a:t>
            </a:r>
            <a:endParaRPr lang="en-IN" dirty="0">
              <a:solidFill>
                <a:schemeClr val="tx1"/>
              </a:solidFill>
            </a:endParaRPr>
          </a:p>
        </p:txBody>
      </p:sp>
    </p:spTree>
    <p:extLst>
      <p:ext uri="{BB962C8B-B14F-4D97-AF65-F5344CB8AC3E}">
        <p14:creationId xmlns:p14="http://schemas.microsoft.com/office/powerpoint/2010/main" val="38704889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Problem Statement</a:t>
            </a:r>
            <a:endParaRPr lang="en-IN" dirty="0"/>
          </a:p>
        </p:txBody>
      </p:sp>
      <p:sp>
        <p:nvSpPr>
          <p:cNvPr id="3" name="Content Placeholder 2"/>
          <p:cNvSpPr>
            <a:spLocks noGrp="1"/>
          </p:cNvSpPr>
          <p:nvPr>
            <p:ph idx="1"/>
          </p:nvPr>
        </p:nvSpPr>
        <p:spPr/>
        <p:txBody>
          <a:bodyPr/>
          <a:lstStyle/>
          <a:p>
            <a:r>
              <a:rPr lang="en-US" dirty="0" smtClean="0"/>
              <a:t>Parkinson’s Disease (PD) is a progressive neurodegenerative disorder. Diagnosis traditionally relies on clinical evaluations, which can be subjective and costly.</a:t>
            </a:r>
          </a:p>
          <a:p>
            <a:pPr marL="0" indent="0">
              <a:buNone/>
            </a:pPr>
            <a:r>
              <a:rPr lang="en-US" dirty="0" smtClean="0"/>
              <a:t>Why it matters?</a:t>
            </a:r>
          </a:p>
          <a:p>
            <a:r>
              <a:rPr lang="en-US" dirty="0" smtClean="0"/>
              <a:t>Vocal impairment is often one of the earliest signs of PD. Developing a non-invasive, machine learning-based diagnostic tool using voice recordings can enable earlier, more accessible, and objective screening.</a:t>
            </a:r>
            <a:endParaRPr lang="en-IN" dirty="0"/>
          </a:p>
        </p:txBody>
      </p:sp>
    </p:spTree>
    <p:extLst>
      <p:ext uri="{BB962C8B-B14F-4D97-AF65-F5344CB8AC3E}">
        <p14:creationId xmlns:p14="http://schemas.microsoft.com/office/powerpoint/2010/main" val="2086907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Project Objective</a:t>
            </a:r>
            <a:endParaRPr lang="en-IN" dirty="0"/>
          </a:p>
        </p:txBody>
      </p:sp>
      <p:sp>
        <p:nvSpPr>
          <p:cNvPr id="3" name="Content Placeholder 2"/>
          <p:cNvSpPr>
            <a:spLocks noGrp="1"/>
          </p:cNvSpPr>
          <p:nvPr>
            <p:ph idx="1"/>
          </p:nvPr>
        </p:nvSpPr>
        <p:spPr/>
        <p:txBody>
          <a:bodyPr/>
          <a:lstStyle/>
          <a:p>
            <a:r>
              <a:rPr lang="en-US" dirty="0" smtClean="0"/>
              <a:t>To design and evaluate a robust machine learning pipeline that accurately classifies a patient as "Healthy" (0) or "Parkinson's" (1) based on biomedical voice measurements.</a:t>
            </a:r>
            <a:endParaRPr lang="en-IN" dirty="0"/>
          </a:p>
        </p:txBody>
      </p:sp>
    </p:spTree>
    <p:extLst>
      <p:ext uri="{BB962C8B-B14F-4D97-AF65-F5344CB8AC3E}">
        <p14:creationId xmlns:p14="http://schemas.microsoft.com/office/powerpoint/2010/main" val="38200679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Dataset Description</a:t>
            </a:r>
            <a:endParaRPr lang="en-IN" dirty="0"/>
          </a:p>
        </p:txBody>
      </p:sp>
      <p:sp>
        <p:nvSpPr>
          <p:cNvPr id="3" name="Content Placeholder 2"/>
          <p:cNvSpPr>
            <a:spLocks noGrp="1"/>
          </p:cNvSpPr>
          <p:nvPr>
            <p:ph idx="1"/>
          </p:nvPr>
        </p:nvSpPr>
        <p:spPr>
          <a:xfrm>
            <a:off x="281730" y="3704759"/>
            <a:ext cx="11971090" cy="4351338"/>
          </a:xfrm>
        </p:spPr>
        <p:txBody>
          <a:bodyPr/>
          <a:lstStyle/>
          <a:p>
            <a:r>
              <a:rPr lang="en-IN" sz="1600" dirty="0" smtClean="0"/>
              <a:t>Source: </a:t>
            </a:r>
            <a:r>
              <a:rPr lang="en-IN" sz="1600" dirty="0" smtClean="0">
                <a:hlinkClick r:id="rId2"/>
              </a:rPr>
              <a:t>https://archive.ics.uci.edu/dataset/174/parkinsons</a:t>
            </a:r>
            <a:endParaRPr lang="en-IN" sz="1600" dirty="0" smtClean="0"/>
          </a:p>
          <a:p>
            <a:r>
              <a:rPr lang="en-US" sz="1600" dirty="0" smtClean="0"/>
              <a:t>Size</a:t>
            </a:r>
            <a:r>
              <a:rPr lang="en-US" sz="1600" b="1" dirty="0" smtClean="0"/>
              <a:t>:</a:t>
            </a:r>
            <a:r>
              <a:rPr lang="en-US" sz="1600" dirty="0" smtClean="0"/>
              <a:t> 195 voice recordings from 31 distinct individuals.</a:t>
            </a:r>
          </a:p>
          <a:p>
            <a:r>
              <a:rPr lang="en-US" sz="1600" dirty="0" smtClean="0"/>
              <a:t>Features: 22 numerical acoustic features, including fundamental frequencies (</a:t>
            </a:r>
            <a:r>
              <a:rPr lang="en-US" sz="1600" dirty="0" err="1" smtClean="0"/>
              <a:t>MDVP:Fo</a:t>
            </a:r>
            <a:r>
              <a:rPr lang="en-US" sz="1600" dirty="0" smtClean="0"/>
              <a:t>(Hz)), variation in frequency (Jitter), variation in amplitude (Shimmer), and noise-to-harmonics ratios (NHR,HNR).</a:t>
            </a:r>
          </a:p>
          <a:p>
            <a:r>
              <a:rPr lang="en-US" sz="1600" dirty="0" smtClean="0"/>
              <a:t>Target Variable: status (0 = Healthy, 1 = Parkinson's).</a:t>
            </a:r>
          </a:p>
          <a:p>
            <a:endParaRPr lang="en-US" dirty="0" smtClean="0"/>
          </a:p>
          <a:p>
            <a:pPr marL="0" indent="0">
              <a:buNone/>
            </a:pPr>
            <a:endParaRPr lang="en-IN" dirty="0"/>
          </a:p>
        </p:txBody>
      </p:sp>
      <p:sp>
        <p:nvSpPr>
          <p:cNvPr id="5" name="Rectangle 1"/>
          <p:cNvSpPr>
            <a:spLocks noChangeArrowheads="1"/>
          </p:cNvSpPr>
          <p:nvPr/>
        </p:nvSpPr>
        <p:spPr bwMode="auto">
          <a:xfrm>
            <a:off x="281730" y="1513304"/>
            <a:ext cx="1022128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kumimoji="0" lang="en-US" altLang="en-US" sz="1600" b="0" i="0" u="none" strike="noStrike" cap="none" normalizeH="0" baseline="0" dirty="0" smtClean="0">
                <a:ln>
                  <a:noFill/>
                </a:ln>
                <a:solidFill>
                  <a:schemeClr val="tx1"/>
                </a:solidFill>
                <a:effectLst/>
                <a:latin typeface="Arial" panose="020B0604020202020204" pitchFamily="34" charset="0"/>
              </a:rPr>
              <a:t>The </a:t>
            </a:r>
            <a:r>
              <a:rPr lang="en-US" sz="1600" dirty="0"/>
              <a:t>Oxford Parkinson's Disease Detection </a:t>
            </a:r>
            <a:r>
              <a:rPr lang="en-US" sz="1600" dirty="0" smtClean="0"/>
              <a:t>Dataset</a:t>
            </a:r>
            <a:r>
              <a:rPr kumimoji="0" lang="en-US" altLang="en-US" sz="1600" b="0" i="0" u="none" strike="noStrike" cap="none" normalizeH="0" baseline="0" dirty="0" smtClean="0">
                <a:ln>
                  <a:noFill/>
                </a:ln>
                <a:solidFill>
                  <a:schemeClr val="tx1"/>
                </a:solidFill>
                <a:effectLst/>
              </a:rPr>
              <a:t> is a well-known dataset from the UCI Machine Learning Repository. It consists of a range of biomedical voice measurements from 31 different people, 23 of whom have Parkinson's disease (PD). The file contains 195 total rows, with each row representing a specific voice recording from one of those individuals.</a:t>
            </a:r>
          </a:p>
          <a:p>
            <a:pPr marL="285750" lvl="0" indent="-285750" eaLnBrk="0" fontAlgn="base" hangingPunct="0">
              <a:spcBef>
                <a:spcPct val="0"/>
              </a:spcBef>
              <a:spcAft>
                <a:spcPct val="0"/>
              </a:spcAft>
              <a:buFont typeface="Arial" panose="020B0604020202020204" pitchFamily="34" charset="0"/>
              <a:buChar char="•"/>
            </a:pPr>
            <a:endParaRPr kumimoji="0" lang="en-US" altLang="en-US" sz="16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smtClean="0">
                <a:ln>
                  <a:noFill/>
                </a:ln>
                <a:solidFill>
                  <a:schemeClr val="tx1"/>
                </a:solidFill>
                <a:effectLst/>
              </a:rPr>
              <a:t>The data extracted for model training consists of various mathematical measures of vocal characteristics. The goal of using these specific features is to detect subtle vocal tremors, breathiness, and changes in speech complexity that are common early symptoms of Parkinson's disease.</a:t>
            </a:r>
          </a:p>
        </p:txBody>
      </p:sp>
    </p:spTree>
    <p:extLst>
      <p:ext uri="{BB962C8B-B14F-4D97-AF65-F5344CB8AC3E}">
        <p14:creationId xmlns:p14="http://schemas.microsoft.com/office/powerpoint/2010/main" val="6465244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Data Pre-processing</a:t>
            </a:r>
            <a:endParaRPr lang="en-IN" dirty="0"/>
          </a:p>
        </p:txBody>
      </p:sp>
      <p:sp>
        <p:nvSpPr>
          <p:cNvPr id="3" name="Content Placeholder 2"/>
          <p:cNvSpPr>
            <a:spLocks noGrp="1"/>
          </p:cNvSpPr>
          <p:nvPr>
            <p:ph idx="1"/>
          </p:nvPr>
        </p:nvSpPr>
        <p:spPr>
          <a:xfrm>
            <a:off x="394283" y="1825624"/>
            <a:ext cx="10959517" cy="4742955"/>
          </a:xfrm>
        </p:spPr>
        <p:txBody>
          <a:bodyPr/>
          <a:lstStyle/>
          <a:p>
            <a:r>
              <a:rPr lang="en-US" sz="2000" dirty="0" smtClean="0"/>
              <a:t>Data Cleansing: Verified 0 missing values across all 25 columns.</a:t>
            </a:r>
          </a:p>
          <a:p>
            <a:r>
              <a:rPr lang="en-US" sz="2000" dirty="0" smtClean="0"/>
              <a:t>Feature Engineering: Extracted </a:t>
            </a:r>
            <a:r>
              <a:rPr lang="en-US" sz="2000" dirty="0" err="1" smtClean="0"/>
              <a:t>subject_id</a:t>
            </a:r>
            <a:r>
              <a:rPr lang="en-US" sz="2000" dirty="0" smtClean="0"/>
              <a:t> from the raw name column to track individual patients and prevent data leakage.</a:t>
            </a:r>
          </a:p>
          <a:p>
            <a:r>
              <a:rPr lang="en-US" sz="2000" dirty="0" smtClean="0"/>
              <a:t>Feature Selection: </a:t>
            </a:r>
          </a:p>
          <a:p>
            <a:pPr lvl="1"/>
            <a:r>
              <a:rPr lang="en-US" dirty="0" smtClean="0"/>
              <a:t>Dropped non-predictive columns (name, </a:t>
            </a:r>
            <a:r>
              <a:rPr lang="en-US" dirty="0" err="1" smtClean="0"/>
              <a:t>subject_id</a:t>
            </a:r>
            <a:r>
              <a:rPr lang="en-US" dirty="0" smtClean="0"/>
              <a:t>) from the feature matrix (X).</a:t>
            </a:r>
          </a:p>
          <a:p>
            <a:pPr lvl="1"/>
            <a:r>
              <a:rPr lang="en-US" dirty="0" smtClean="0"/>
              <a:t>Then, applied </a:t>
            </a:r>
            <a:r>
              <a:rPr lang="en-US" b="1" dirty="0" smtClean="0"/>
              <a:t>Recursive Feature Elimination with Cross-Validation (RFECV)</a:t>
            </a:r>
            <a:r>
              <a:rPr lang="en-US" dirty="0" smtClean="0"/>
              <a:t> to mathematically reduce the 22 acoustic features down to the 5 most critical biological markers.</a:t>
            </a:r>
          </a:p>
          <a:p>
            <a:r>
              <a:rPr lang="en-US" sz="2000" dirty="0" smtClean="0"/>
              <a:t>Scaling: Applied </a:t>
            </a:r>
            <a:r>
              <a:rPr lang="en-US" sz="2000" b="1" dirty="0" smtClean="0"/>
              <a:t>StandardScaler</a:t>
            </a:r>
            <a:r>
              <a:rPr lang="en-US" sz="2000" dirty="0" smtClean="0"/>
              <a:t> to normalize the wide mathematical ranges of the selected acoustic features.</a:t>
            </a:r>
          </a:p>
          <a:p>
            <a:pPr lvl="1"/>
            <a:endParaRPr lang="en-US" dirty="0" smtClean="0"/>
          </a:p>
          <a:p>
            <a:pPr lvl="1"/>
            <a:endParaRPr lang="en-US" dirty="0" smtClean="0"/>
          </a:p>
          <a:p>
            <a:pPr lvl="1"/>
            <a:endParaRPr lang="en-US" dirty="0" smtClean="0"/>
          </a:p>
        </p:txBody>
      </p:sp>
    </p:spTree>
    <p:extLst>
      <p:ext uri="{BB962C8B-B14F-4D97-AF65-F5344CB8AC3E}">
        <p14:creationId xmlns:p14="http://schemas.microsoft.com/office/powerpoint/2010/main" val="26758926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449" y="1"/>
            <a:ext cx="10515600" cy="954250"/>
          </a:xfrm>
        </p:spPr>
        <p:txBody>
          <a:bodyPr/>
          <a:lstStyle/>
          <a:p>
            <a:pPr algn="ctr"/>
            <a:r>
              <a:rPr lang="en-IN" dirty="0" smtClean="0"/>
              <a:t>EDA &amp; Visual Insights</a:t>
            </a:r>
            <a:endParaRPr lang="en-IN" dirty="0"/>
          </a:p>
        </p:txBody>
      </p:sp>
      <p:sp>
        <p:nvSpPr>
          <p:cNvPr id="3" name="Content Placeholder 2"/>
          <p:cNvSpPr>
            <a:spLocks noGrp="1"/>
          </p:cNvSpPr>
          <p:nvPr>
            <p:ph idx="1"/>
          </p:nvPr>
        </p:nvSpPr>
        <p:spPr>
          <a:xfrm>
            <a:off x="128187" y="969948"/>
            <a:ext cx="11955149" cy="5687226"/>
          </a:xfrm>
        </p:spPr>
        <p:txBody>
          <a:bodyPr>
            <a:normAutofit/>
          </a:bodyPr>
          <a:lstStyle/>
          <a:p>
            <a:pPr marL="0" indent="0">
              <a:buNone/>
            </a:pPr>
            <a:r>
              <a:rPr lang="en-US" sz="1100" dirty="0" smtClean="0"/>
              <a:t>1. Distribution of Healthy (0) vs. Parkinson's (1) Cases (Bar Chart)</a:t>
            </a:r>
            <a:endParaRPr lang="en-IN" sz="11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089" y="1231559"/>
            <a:ext cx="3108175" cy="2015844"/>
          </a:xfrm>
          <a:prstGeom prst="rect">
            <a:avLst/>
          </a:prstGeom>
        </p:spPr>
      </p:pic>
      <p:sp>
        <p:nvSpPr>
          <p:cNvPr id="5" name="TextBox 4"/>
          <p:cNvSpPr txBox="1"/>
          <p:nvPr/>
        </p:nvSpPr>
        <p:spPr>
          <a:xfrm>
            <a:off x="328834" y="3292457"/>
            <a:ext cx="3313651" cy="577081"/>
          </a:xfrm>
          <a:prstGeom prst="rect">
            <a:avLst/>
          </a:prstGeom>
          <a:noFill/>
        </p:spPr>
        <p:txBody>
          <a:bodyPr wrap="square" rtlCol="0">
            <a:spAutoFit/>
          </a:bodyPr>
          <a:lstStyle/>
          <a:p>
            <a:r>
              <a:rPr lang="en-US" sz="1050" b="1" dirty="0" smtClean="0"/>
              <a:t>The dataset suffers from a severe class imbalance, containing 147 Parkinson's cases compared to only 48 Healthy cases (roughly a 3:1 ratio).</a:t>
            </a:r>
            <a:endParaRPr lang="en-IN" sz="1050" b="1" dirty="0"/>
          </a:p>
        </p:txBody>
      </p:sp>
      <p:sp>
        <p:nvSpPr>
          <p:cNvPr id="6" name="Rectangle 5"/>
          <p:cNvSpPr/>
          <p:nvPr/>
        </p:nvSpPr>
        <p:spPr>
          <a:xfrm>
            <a:off x="4614736" y="969948"/>
            <a:ext cx="2459328" cy="261610"/>
          </a:xfrm>
          <a:prstGeom prst="rect">
            <a:avLst/>
          </a:prstGeom>
        </p:spPr>
        <p:txBody>
          <a:bodyPr wrap="none">
            <a:spAutoFit/>
          </a:bodyPr>
          <a:lstStyle/>
          <a:p>
            <a:r>
              <a:rPr lang="en-US" sz="1100" dirty="0" smtClean="0"/>
              <a:t>2. RFECV Feature Selection (Line Graph)</a:t>
            </a:r>
            <a:endParaRPr lang="en-IN" sz="11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3213" y="1247256"/>
            <a:ext cx="3851269" cy="1931780"/>
          </a:xfrm>
          <a:prstGeom prst="rect">
            <a:avLst/>
          </a:prstGeom>
        </p:spPr>
      </p:pic>
      <p:sp>
        <p:nvSpPr>
          <p:cNvPr id="8" name="Rectangle 7"/>
          <p:cNvSpPr/>
          <p:nvPr/>
        </p:nvSpPr>
        <p:spPr>
          <a:xfrm>
            <a:off x="3848780" y="3273501"/>
            <a:ext cx="3991239" cy="738664"/>
          </a:xfrm>
          <a:prstGeom prst="rect">
            <a:avLst/>
          </a:prstGeom>
        </p:spPr>
        <p:txBody>
          <a:bodyPr wrap="square">
            <a:spAutoFit/>
          </a:bodyPr>
          <a:lstStyle/>
          <a:p>
            <a:r>
              <a:rPr lang="en-US" sz="1050" b="1" dirty="0"/>
              <a:t>The curve visually demonstrates how model performance shifts as features are added or removed. It peaks exactly at 5 features, proving that the remaining 17 features were either adding mathematical "noise" or redundant information</a:t>
            </a:r>
            <a:r>
              <a:rPr lang="en-US" sz="1050" dirty="0"/>
              <a:t>.</a:t>
            </a:r>
            <a:endParaRPr lang="en-IN" sz="1050" dirty="0"/>
          </a:p>
        </p:txBody>
      </p:sp>
      <p:sp>
        <p:nvSpPr>
          <p:cNvPr id="9" name="Rectangle 8"/>
          <p:cNvSpPr/>
          <p:nvPr/>
        </p:nvSpPr>
        <p:spPr>
          <a:xfrm>
            <a:off x="8046647" y="988443"/>
            <a:ext cx="5493076" cy="261610"/>
          </a:xfrm>
          <a:prstGeom prst="rect">
            <a:avLst/>
          </a:prstGeom>
        </p:spPr>
        <p:txBody>
          <a:bodyPr wrap="square">
            <a:spAutoFit/>
          </a:bodyPr>
          <a:lstStyle/>
          <a:p>
            <a:r>
              <a:rPr lang="en-US" sz="1100" dirty="0" smtClean="0"/>
              <a:t>3.Relative Importance of Top 5 Vocal Features(Bar Chart)</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0198" y="1243875"/>
            <a:ext cx="3859174" cy="1755699"/>
          </a:xfrm>
          <a:prstGeom prst="rect">
            <a:avLst/>
          </a:prstGeom>
        </p:spPr>
      </p:pic>
      <p:sp>
        <p:nvSpPr>
          <p:cNvPr id="11" name="Rectangle 10"/>
          <p:cNvSpPr/>
          <p:nvPr/>
        </p:nvSpPr>
        <p:spPr>
          <a:xfrm>
            <a:off x="7915686" y="3247403"/>
            <a:ext cx="4167652" cy="738664"/>
          </a:xfrm>
          <a:prstGeom prst="rect">
            <a:avLst/>
          </a:prstGeom>
        </p:spPr>
        <p:txBody>
          <a:bodyPr wrap="square">
            <a:spAutoFit/>
          </a:bodyPr>
          <a:lstStyle/>
          <a:p>
            <a:r>
              <a:rPr lang="en-US" sz="1050" b="1" dirty="0" smtClean="0"/>
              <a:t>PPE (Pitch Period Entropy) and spread1 are the most dominant predictors, each carrying a high importance weight of over 0.25. (</a:t>
            </a:r>
            <a:r>
              <a:rPr lang="en-US" sz="1050" b="1" dirty="0" err="1" smtClean="0"/>
              <a:t>MDVP:Fo</a:t>
            </a:r>
            <a:r>
              <a:rPr lang="en-US" sz="1050" b="1" dirty="0" smtClean="0"/>
              <a:t>(Hz) and </a:t>
            </a:r>
            <a:r>
              <a:rPr lang="en-US" sz="1050" b="1" dirty="0" err="1" smtClean="0"/>
              <a:t>MDVP:Fhi</a:t>
            </a:r>
            <a:r>
              <a:rPr lang="en-US" sz="1050" b="1" dirty="0" smtClean="0"/>
              <a:t>(Hz)) and the noise ratio (NHR) are also critical but carry noticeably less weight than the non-linear features.</a:t>
            </a:r>
            <a:endParaRPr lang="en-IN" sz="1050" b="1" dirty="0"/>
          </a:p>
        </p:txBody>
      </p:sp>
      <p:sp>
        <p:nvSpPr>
          <p:cNvPr id="12" name="Rectangle 11"/>
          <p:cNvSpPr/>
          <p:nvPr/>
        </p:nvSpPr>
        <p:spPr>
          <a:xfrm>
            <a:off x="247125" y="4012165"/>
            <a:ext cx="2699778" cy="261610"/>
          </a:xfrm>
          <a:prstGeom prst="rect">
            <a:avLst/>
          </a:prstGeom>
        </p:spPr>
        <p:txBody>
          <a:bodyPr wrap="none">
            <a:spAutoFit/>
          </a:bodyPr>
          <a:lstStyle/>
          <a:p>
            <a:r>
              <a:rPr lang="en-US" sz="1100" dirty="0"/>
              <a:t>4. Test Set Accuracy Comparison (Bar Chart)</a:t>
            </a:r>
            <a:endParaRPr lang="en-IN" sz="1100" dirty="0"/>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8088" y="4339664"/>
            <a:ext cx="3108176" cy="2362563"/>
          </a:xfrm>
          <a:prstGeom prst="rect">
            <a:avLst/>
          </a:prstGeom>
        </p:spPr>
      </p:pic>
      <p:sp>
        <p:nvSpPr>
          <p:cNvPr id="14" name="Rectangle 13"/>
          <p:cNvSpPr/>
          <p:nvPr/>
        </p:nvSpPr>
        <p:spPr>
          <a:xfrm>
            <a:off x="3525937" y="4884546"/>
            <a:ext cx="2102265" cy="900246"/>
          </a:xfrm>
          <a:prstGeom prst="rect">
            <a:avLst/>
          </a:prstGeom>
        </p:spPr>
        <p:txBody>
          <a:bodyPr wrap="square">
            <a:spAutoFit/>
          </a:bodyPr>
          <a:lstStyle/>
          <a:p>
            <a:r>
              <a:rPr lang="en-US" sz="1050" b="1" dirty="0"/>
              <a:t>Random Forest achieved a top accuracy of 0.907 (90.7%) on the isolated test set. SVM is a close second at 0.884, while Logistic Regression and KNN tie at 0.860.</a:t>
            </a:r>
            <a:endParaRPr lang="en-IN" sz="1050" b="1" dirty="0"/>
          </a:p>
        </p:txBody>
      </p:sp>
      <p:sp>
        <p:nvSpPr>
          <p:cNvPr id="15" name="Rectangle 14"/>
          <p:cNvSpPr/>
          <p:nvPr/>
        </p:nvSpPr>
        <p:spPr>
          <a:xfrm>
            <a:off x="5975637" y="4052558"/>
            <a:ext cx="4565309" cy="261610"/>
          </a:xfrm>
          <a:prstGeom prst="rect">
            <a:avLst/>
          </a:prstGeom>
        </p:spPr>
        <p:txBody>
          <a:bodyPr wrap="square">
            <a:spAutoFit/>
          </a:bodyPr>
          <a:lstStyle/>
          <a:p>
            <a:r>
              <a:rPr lang="fr-FR" sz="1100" dirty="0"/>
              <a:t>5.Random Forest: Confusion Matrix (</a:t>
            </a:r>
            <a:r>
              <a:rPr lang="fr-FR" sz="1100" dirty="0" err="1"/>
              <a:t>Heatmap</a:t>
            </a:r>
            <a:r>
              <a:rPr lang="fr-FR" sz="1100" dirty="0"/>
              <a:t>)</a:t>
            </a:r>
            <a:endParaRPr lang="en-IN" sz="1100" dirty="0"/>
          </a:p>
        </p:txBody>
      </p:sp>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4399" y="4335127"/>
            <a:ext cx="3340714" cy="2281829"/>
          </a:xfrm>
          <a:prstGeom prst="rect">
            <a:avLst/>
          </a:prstGeom>
        </p:spPr>
      </p:pic>
      <p:sp>
        <p:nvSpPr>
          <p:cNvPr id="17" name="Rectangle 16"/>
          <p:cNvSpPr/>
          <p:nvPr/>
        </p:nvSpPr>
        <p:spPr>
          <a:xfrm>
            <a:off x="9401310" y="4799664"/>
            <a:ext cx="1955665" cy="1015663"/>
          </a:xfrm>
          <a:prstGeom prst="rect">
            <a:avLst/>
          </a:prstGeom>
        </p:spPr>
        <p:txBody>
          <a:bodyPr wrap="square">
            <a:spAutoFit/>
          </a:bodyPr>
          <a:lstStyle/>
          <a:p>
            <a:r>
              <a:rPr lang="en-US" sz="1050" b="1" dirty="0"/>
              <a:t>The model achieved a Recall of 1.00 for Parkinson's patients. This means the confusion matrix will show 0 </a:t>
            </a:r>
            <a:r>
              <a:rPr lang="en-US" sz="1050" b="1" dirty="0" smtClean="0"/>
              <a:t>False Negatives</a:t>
            </a:r>
            <a:r>
              <a:rPr lang="en-US" b="1" dirty="0"/>
              <a:t>. </a:t>
            </a:r>
            <a:endParaRPr lang="en-IN" b="1" dirty="0"/>
          </a:p>
        </p:txBody>
      </p:sp>
    </p:spTree>
    <p:extLst>
      <p:ext uri="{BB962C8B-B14F-4D97-AF65-F5344CB8AC3E}">
        <p14:creationId xmlns:p14="http://schemas.microsoft.com/office/powerpoint/2010/main" val="3605237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3308" y="0"/>
            <a:ext cx="10515600" cy="1325563"/>
          </a:xfrm>
        </p:spPr>
        <p:txBody>
          <a:bodyPr/>
          <a:lstStyle/>
          <a:p>
            <a:pPr algn="ctr"/>
            <a:r>
              <a:rPr lang="en-IN" dirty="0" smtClean="0"/>
              <a:t>Methodology</a:t>
            </a: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5108" y="662781"/>
            <a:ext cx="4572000" cy="5905850"/>
          </a:xfrm>
          <a:prstGeom prst="rect">
            <a:avLst/>
          </a:prstGeom>
        </p:spPr>
      </p:pic>
      <p:sp>
        <p:nvSpPr>
          <p:cNvPr id="2" name="TextBox 1"/>
          <p:cNvSpPr txBox="1"/>
          <p:nvPr/>
        </p:nvSpPr>
        <p:spPr>
          <a:xfrm>
            <a:off x="10544962" y="6497139"/>
            <a:ext cx="2139193" cy="230832"/>
          </a:xfrm>
          <a:prstGeom prst="rect">
            <a:avLst/>
          </a:prstGeom>
          <a:noFill/>
        </p:spPr>
        <p:txBody>
          <a:bodyPr wrap="square" rtlCol="0">
            <a:spAutoFit/>
          </a:bodyPr>
          <a:lstStyle/>
          <a:p>
            <a:r>
              <a:rPr lang="en-US" sz="900" dirty="0" smtClean="0"/>
              <a:t>Flowchart created using AI</a:t>
            </a:r>
            <a:endParaRPr lang="en-IN" sz="900" dirty="0"/>
          </a:p>
        </p:txBody>
      </p:sp>
    </p:spTree>
    <p:extLst>
      <p:ext uri="{BB962C8B-B14F-4D97-AF65-F5344CB8AC3E}">
        <p14:creationId xmlns:p14="http://schemas.microsoft.com/office/powerpoint/2010/main" val="699688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Models Implemented</a:t>
            </a:r>
            <a:endParaRPr lang="en-IN" dirty="0"/>
          </a:p>
        </p:txBody>
      </p:sp>
      <p:sp>
        <p:nvSpPr>
          <p:cNvPr id="3" name="Content Placeholder 2"/>
          <p:cNvSpPr>
            <a:spLocks noGrp="1"/>
          </p:cNvSpPr>
          <p:nvPr>
            <p:ph idx="1"/>
          </p:nvPr>
        </p:nvSpPr>
        <p:spPr/>
        <p:txBody>
          <a:bodyPr>
            <a:normAutofit fontScale="85000" lnSpcReduction="20000"/>
          </a:bodyPr>
          <a:lstStyle/>
          <a:p>
            <a:r>
              <a:rPr lang="en-IN" sz="2400" dirty="0" smtClean="0"/>
              <a:t>Logistic Regression </a:t>
            </a:r>
            <a:r>
              <a:rPr lang="en-IN" sz="1600" dirty="0" smtClean="0"/>
              <a:t>- </a:t>
            </a:r>
            <a:r>
              <a:rPr lang="en-US" sz="1600" dirty="0" smtClean="0"/>
              <a:t>Logistic </a:t>
            </a:r>
            <a:r>
              <a:rPr lang="en-US" sz="1600" dirty="0"/>
              <a:t>Regression is a supervised machine learning algorithm used for classification </a:t>
            </a:r>
            <a:r>
              <a:rPr lang="en-US" sz="1600" dirty="0" smtClean="0"/>
              <a:t>problems. It is used for binary classification where the output can be one of two possible categories such as Yes/No, True/False or 0/1.It uses sigmoid function to convert inputs into a probability value between 0 and 1.</a:t>
            </a:r>
          </a:p>
          <a:p>
            <a:r>
              <a:rPr lang="en-US" sz="2400" dirty="0" smtClean="0"/>
              <a:t>Support Vector Machine </a:t>
            </a:r>
            <a:r>
              <a:rPr lang="en-US" sz="1600" dirty="0" smtClean="0"/>
              <a:t>- Support </a:t>
            </a:r>
            <a:r>
              <a:rPr lang="en-US" sz="1600" dirty="0"/>
              <a:t>Vector Machine (SVM) is a supervised machine learning algorithm used for classification and regression tasks. It tries to find the best boundary known as hyperplane that separates different classes in the </a:t>
            </a:r>
            <a:r>
              <a:rPr lang="en-US" sz="1600" dirty="0" smtClean="0"/>
              <a:t>data.</a:t>
            </a:r>
          </a:p>
          <a:p>
            <a:r>
              <a:rPr lang="en-US" sz="2400" dirty="0" smtClean="0"/>
              <a:t>Random Forest </a:t>
            </a:r>
            <a:r>
              <a:rPr lang="en-US" sz="1600" dirty="0" smtClean="0"/>
              <a:t>- </a:t>
            </a:r>
            <a:r>
              <a:rPr lang="en-US" sz="1600" dirty="0"/>
              <a:t>Random Forest is a machine learning algorithm that uses many decision trees to make better predictions. Each tree looks at different random parts of the data and their results are combined by voting for classification or averaging for regression which makes it as ensemble learning </a:t>
            </a:r>
            <a:r>
              <a:rPr lang="en-US" sz="1600" dirty="0" smtClean="0"/>
              <a:t>technique.</a:t>
            </a:r>
          </a:p>
          <a:p>
            <a:pPr fontAlgn="base"/>
            <a:r>
              <a:rPr lang="en-US" sz="2400" dirty="0" smtClean="0"/>
              <a:t>K-Nearest Neighbors - </a:t>
            </a:r>
            <a:r>
              <a:rPr lang="en-US" sz="1700" dirty="0"/>
              <a:t>K‑Nearest Neighbor (KNN) is a simple and widely used machine learning technique for classification and regression tasks. It works by identifying the </a:t>
            </a:r>
            <a:r>
              <a:rPr lang="en-US" sz="1700" i="1" dirty="0"/>
              <a:t>K</a:t>
            </a:r>
            <a:r>
              <a:rPr lang="en-US" sz="1700" dirty="0"/>
              <a:t> closest data points to a given input and making predictions based on the majority class or average value of those neighbors.</a:t>
            </a:r>
          </a:p>
          <a:p>
            <a:pPr marL="0" indent="0">
              <a:buNone/>
            </a:pPr>
            <a:r>
              <a:rPr lang="en-US" sz="1600" dirty="0" smtClean="0"/>
              <a:t/>
            </a:r>
            <a:br>
              <a:rPr lang="en-US" sz="1600" dirty="0" smtClean="0"/>
            </a:br>
            <a:endParaRPr lang="en-US" sz="1600" dirty="0" smtClean="0"/>
          </a:p>
          <a:p>
            <a:endParaRPr lang="en-IN" sz="1600" dirty="0"/>
          </a:p>
        </p:txBody>
      </p:sp>
    </p:spTree>
    <p:extLst>
      <p:ext uri="{BB962C8B-B14F-4D97-AF65-F5344CB8AC3E}">
        <p14:creationId xmlns:p14="http://schemas.microsoft.com/office/powerpoint/2010/main" val="2815043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smtClean="0"/>
              <a:t>Model Evaluation</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2241217"/>
              </p:ext>
            </p:extLst>
          </p:nvPr>
        </p:nvGraphicFramePr>
        <p:xfrm>
          <a:off x="545284" y="2139193"/>
          <a:ext cx="10674292" cy="2769510"/>
        </p:xfrm>
        <a:graphic>
          <a:graphicData uri="http://schemas.openxmlformats.org/drawingml/2006/table">
            <a:tbl>
              <a:tblPr/>
              <a:tblGrid>
                <a:gridCol w="2668573">
                  <a:extLst>
                    <a:ext uri="{9D8B030D-6E8A-4147-A177-3AD203B41FA5}">
                      <a16:colId xmlns:a16="http://schemas.microsoft.com/office/drawing/2014/main" val="1980327256"/>
                    </a:ext>
                  </a:extLst>
                </a:gridCol>
                <a:gridCol w="2668573">
                  <a:extLst>
                    <a:ext uri="{9D8B030D-6E8A-4147-A177-3AD203B41FA5}">
                      <a16:colId xmlns:a16="http://schemas.microsoft.com/office/drawing/2014/main" val="3069174230"/>
                    </a:ext>
                  </a:extLst>
                </a:gridCol>
                <a:gridCol w="2668573">
                  <a:extLst>
                    <a:ext uri="{9D8B030D-6E8A-4147-A177-3AD203B41FA5}">
                      <a16:colId xmlns:a16="http://schemas.microsoft.com/office/drawing/2014/main" val="2691869882"/>
                    </a:ext>
                  </a:extLst>
                </a:gridCol>
                <a:gridCol w="2668573">
                  <a:extLst>
                    <a:ext uri="{9D8B030D-6E8A-4147-A177-3AD203B41FA5}">
                      <a16:colId xmlns:a16="http://schemas.microsoft.com/office/drawing/2014/main" val="2761634665"/>
                    </a:ext>
                  </a:extLst>
                </a:gridCol>
              </a:tblGrid>
              <a:tr h="553902">
                <a:tc>
                  <a:txBody>
                    <a:bodyPr/>
                    <a:lstStyle/>
                    <a:p>
                      <a:pPr rtl="0"/>
                      <a:r>
                        <a:rPr lang="en-IN" b="1" dirty="0">
                          <a:solidFill>
                            <a:srgbClr val="1F1F1F"/>
                          </a:solidFill>
                          <a:effectLst/>
                          <a:latin typeface="Google Sans Text"/>
                        </a:rPr>
                        <a:t>Model</a:t>
                      </a:r>
                      <a:endParaRPr lang="en-IN"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Test Accuracy</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PD Precision</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PD Recall</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609102187"/>
                  </a:ext>
                </a:extLst>
              </a:tr>
              <a:tr h="553902">
                <a:tc>
                  <a:txBody>
                    <a:bodyPr/>
                    <a:lstStyle/>
                    <a:p>
                      <a:pPr rtl="0"/>
                      <a:r>
                        <a:rPr lang="en-IN" b="1">
                          <a:solidFill>
                            <a:srgbClr val="1F1F1F"/>
                          </a:solidFill>
                          <a:effectLst/>
                          <a:latin typeface="Google Sans Text"/>
                        </a:rPr>
                        <a:t>Random Forest</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90.7%</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0.89</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b="1">
                          <a:solidFill>
                            <a:srgbClr val="1F1F1F"/>
                          </a:solidFill>
                          <a:effectLst/>
                          <a:latin typeface="Google Sans Text"/>
                        </a:rPr>
                        <a:t>1.00</a:t>
                      </a:r>
                      <a:endParaRPr lang="en-IN">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195314308"/>
                  </a:ext>
                </a:extLst>
              </a:tr>
              <a:tr h="553902">
                <a:tc>
                  <a:txBody>
                    <a:bodyPr/>
                    <a:lstStyle/>
                    <a:p>
                      <a:pPr rtl="0"/>
                      <a:r>
                        <a:rPr lang="en-IN">
                          <a:solidFill>
                            <a:srgbClr val="1F1F1F"/>
                          </a:solidFill>
                          <a:effectLst/>
                          <a:latin typeface="Google Sans Text"/>
                        </a:rPr>
                        <a:t>SVM (RBF)</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88.4%</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0.86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1.00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859027909"/>
                  </a:ext>
                </a:extLst>
              </a:tr>
              <a:tr h="553902">
                <a:tc>
                  <a:txBody>
                    <a:bodyPr/>
                    <a:lstStyle/>
                    <a:p>
                      <a:pPr rtl="0"/>
                      <a:r>
                        <a:rPr lang="en-IN">
                          <a:solidFill>
                            <a:srgbClr val="1F1F1F"/>
                          </a:solidFill>
                          <a:effectLst/>
                          <a:latin typeface="Google Sans Text"/>
                        </a:rPr>
                        <a:t>Logistic Regression</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86.0%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0.86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0.97</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902205228"/>
                  </a:ext>
                </a:extLst>
              </a:tr>
              <a:tr h="553902">
                <a:tc>
                  <a:txBody>
                    <a:bodyPr/>
                    <a:lstStyle/>
                    <a:p>
                      <a:pPr rtl="0"/>
                      <a:r>
                        <a:rPr lang="en-IN" dirty="0">
                          <a:solidFill>
                            <a:srgbClr val="1F1F1F"/>
                          </a:solidFill>
                          <a:effectLst/>
                          <a:latin typeface="Google Sans Text"/>
                        </a:rPr>
                        <a:t>KNN (k=3)</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86.0%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a:solidFill>
                            <a:srgbClr val="1F1F1F"/>
                          </a:solidFill>
                          <a:effectLst/>
                          <a:latin typeface="Google Sans Text"/>
                        </a:rPr>
                        <a:t>0.84</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n-IN" dirty="0">
                          <a:solidFill>
                            <a:srgbClr val="1F1F1F"/>
                          </a:solidFill>
                          <a:effectLst/>
                          <a:latin typeface="Google Sans Text"/>
                        </a:rPr>
                        <a:t>1.00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3410037687"/>
                  </a:ext>
                </a:extLst>
              </a:tr>
            </a:tbl>
          </a:graphicData>
        </a:graphic>
      </p:graphicFrame>
    </p:spTree>
    <p:extLst>
      <p:ext uri="{BB962C8B-B14F-4D97-AF65-F5344CB8AC3E}">
        <p14:creationId xmlns:p14="http://schemas.microsoft.com/office/powerpoint/2010/main" val="2557685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Prediction Demo</a:t>
            </a:r>
            <a:endParaRPr lang="en-IN" dirty="0"/>
          </a:p>
        </p:txBody>
      </p:sp>
      <p:pic>
        <p:nvPicPr>
          <p:cNvPr id="4" name="Content Placeholder 3"/>
          <p:cNvPicPr>
            <a:picLocks noGrp="1" noChangeAspect="1"/>
          </p:cNvPicPr>
          <p:nvPr>
            <p:ph idx="1"/>
          </p:nvPr>
        </p:nvPicPr>
        <p:blipFill>
          <a:blip r:embed="rId2"/>
          <a:stretch>
            <a:fillRect/>
          </a:stretch>
        </p:blipFill>
        <p:spPr>
          <a:xfrm>
            <a:off x="838200" y="1595091"/>
            <a:ext cx="4182059" cy="1943371"/>
          </a:xfrm>
          <a:prstGeom prst="rect">
            <a:avLst/>
          </a:prstGeom>
        </p:spPr>
      </p:pic>
      <p:pic>
        <p:nvPicPr>
          <p:cNvPr id="5" name="Picture 4"/>
          <p:cNvPicPr>
            <a:picLocks noChangeAspect="1"/>
          </p:cNvPicPr>
          <p:nvPr/>
        </p:nvPicPr>
        <p:blipFill>
          <a:blip r:embed="rId3"/>
          <a:stretch>
            <a:fillRect/>
          </a:stretch>
        </p:blipFill>
        <p:spPr>
          <a:xfrm>
            <a:off x="6388367" y="1628600"/>
            <a:ext cx="4096322" cy="1971950"/>
          </a:xfrm>
          <a:prstGeom prst="rect">
            <a:avLst/>
          </a:prstGeom>
        </p:spPr>
      </p:pic>
      <p:pic>
        <p:nvPicPr>
          <p:cNvPr id="6" name="Picture 5"/>
          <p:cNvPicPr>
            <a:picLocks noChangeAspect="1"/>
          </p:cNvPicPr>
          <p:nvPr/>
        </p:nvPicPr>
        <p:blipFill>
          <a:blip r:embed="rId4"/>
          <a:stretch>
            <a:fillRect/>
          </a:stretch>
        </p:blipFill>
        <p:spPr>
          <a:xfrm>
            <a:off x="838200" y="4177057"/>
            <a:ext cx="4182059" cy="1943371"/>
          </a:xfrm>
          <a:prstGeom prst="rect">
            <a:avLst/>
          </a:prstGeom>
        </p:spPr>
      </p:pic>
      <p:pic>
        <p:nvPicPr>
          <p:cNvPr id="7" name="Picture 6"/>
          <p:cNvPicPr>
            <a:picLocks noChangeAspect="1"/>
          </p:cNvPicPr>
          <p:nvPr/>
        </p:nvPicPr>
        <p:blipFill>
          <a:blip r:embed="rId5"/>
          <a:stretch>
            <a:fillRect/>
          </a:stretch>
        </p:blipFill>
        <p:spPr>
          <a:xfrm>
            <a:off x="6388367" y="4177057"/>
            <a:ext cx="4096322" cy="1924319"/>
          </a:xfrm>
          <a:prstGeom prst="rect">
            <a:avLst/>
          </a:prstGeom>
        </p:spPr>
      </p:pic>
    </p:spTree>
    <p:extLst>
      <p:ext uri="{BB962C8B-B14F-4D97-AF65-F5344CB8AC3E}">
        <p14:creationId xmlns:p14="http://schemas.microsoft.com/office/powerpoint/2010/main" val="983284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Results, Conclusion &amp; Limits</a:t>
            </a:r>
            <a:endParaRPr lang="en-IN" dirty="0"/>
          </a:p>
        </p:txBody>
      </p:sp>
      <p:sp>
        <p:nvSpPr>
          <p:cNvPr id="3" name="Content Placeholder 2"/>
          <p:cNvSpPr>
            <a:spLocks noGrp="1"/>
          </p:cNvSpPr>
          <p:nvPr>
            <p:ph idx="1"/>
          </p:nvPr>
        </p:nvSpPr>
        <p:spPr/>
        <p:txBody>
          <a:bodyPr/>
          <a:lstStyle/>
          <a:p>
            <a:r>
              <a:rPr lang="en-US" sz="2000" dirty="0" smtClean="0"/>
              <a:t>Machine learning can accurately detect Parkinson's disease from voice alone. Tree-based ensemble models (Random Forest) outperformed distance-based models. </a:t>
            </a:r>
          </a:p>
          <a:p>
            <a:r>
              <a:rPr lang="en-US" sz="2000" dirty="0" smtClean="0"/>
              <a:t>Learnings</a:t>
            </a:r>
            <a:r>
              <a:rPr lang="en-US" dirty="0" smtClean="0"/>
              <a:t> </a:t>
            </a:r>
            <a:r>
              <a:rPr lang="en-US" sz="2000" dirty="0"/>
              <a:t>:</a:t>
            </a:r>
            <a:r>
              <a:rPr lang="en-US" sz="2000" dirty="0" smtClean="0"/>
              <a:t> Learned to implement patient-aware grouping (StratifiedGroupKFold) so the algorithm learns the disease, not the individual's specific voice.</a:t>
            </a:r>
          </a:p>
          <a:p>
            <a:r>
              <a:rPr lang="en-IN" sz="2000" dirty="0" smtClean="0"/>
              <a:t>Limitations</a:t>
            </a:r>
            <a:r>
              <a:rPr lang="en-IN" dirty="0" smtClean="0"/>
              <a:t> : </a:t>
            </a:r>
            <a:r>
              <a:rPr lang="en-US" dirty="0" smtClean="0"/>
              <a:t>The dataset is relatively small (195 recordings). A 3:1 class imbalance makes False Positives slightly harder to evaluate than False Negatives.</a:t>
            </a:r>
          </a:p>
        </p:txBody>
      </p:sp>
    </p:spTree>
    <p:extLst>
      <p:ext uri="{BB962C8B-B14F-4D97-AF65-F5344CB8AC3E}">
        <p14:creationId xmlns:p14="http://schemas.microsoft.com/office/powerpoint/2010/main" val="2473830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Future Scope &amp; GitHub</a:t>
            </a:r>
          </a:p>
        </p:txBody>
      </p:sp>
      <p:sp>
        <p:nvSpPr>
          <p:cNvPr id="3" name="Content Placeholder 2"/>
          <p:cNvSpPr>
            <a:spLocks noGrp="1"/>
          </p:cNvSpPr>
          <p:nvPr>
            <p:ph idx="1"/>
          </p:nvPr>
        </p:nvSpPr>
        <p:spPr/>
        <p:txBody>
          <a:bodyPr/>
          <a:lstStyle/>
          <a:p>
            <a:r>
              <a:rPr lang="en-US" dirty="0" smtClean="0"/>
              <a:t>Future Work</a:t>
            </a:r>
          </a:p>
          <a:p>
            <a:pPr lvl="1"/>
            <a:r>
              <a:rPr lang="en-US" dirty="0" smtClean="0"/>
              <a:t>Add other machine learning models and implement deep learning.</a:t>
            </a:r>
          </a:p>
          <a:p>
            <a:pPr lvl="1"/>
            <a:r>
              <a:rPr lang="en-US" dirty="0" smtClean="0"/>
              <a:t>Work on bigger datasets with different kind of data/features.</a:t>
            </a:r>
          </a:p>
          <a:p>
            <a:r>
              <a:rPr lang="en-IN" dirty="0"/>
              <a:t>Project </a:t>
            </a:r>
            <a:r>
              <a:rPr lang="en-IN" dirty="0" smtClean="0"/>
              <a:t>Repository</a:t>
            </a:r>
          </a:p>
          <a:p>
            <a:pPr lvl="1"/>
            <a:r>
              <a:rPr lang="en-IN" dirty="0"/>
              <a:t>GitHub Link</a:t>
            </a:r>
            <a:r>
              <a:rPr lang="en-IN" smtClean="0"/>
              <a:t>: </a:t>
            </a:r>
            <a:r>
              <a:rPr lang="en-IN"/>
              <a:t>https://github.com/Arijeet0615/Parkinsons-Disease-Prediction-PBEL-PROJECT-</a:t>
            </a:r>
            <a:endParaRPr lang="en-IN" dirty="0"/>
          </a:p>
        </p:txBody>
      </p:sp>
    </p:spTree>
    <p:extLst>
      <p:ext uri="{BB962C8B-B14F-4D97-AF65-F5344CB8AC3E}">
        <p14:creationId xmlns:p14="http://schemas.microsoft.com/office/powerpoint/2010/main" val="1528693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154" y="2648125"/>
            <a:ext cx="2678263" cy="1320800"/>
          </a:xfrm>
        </p:spPr>
        <p:txBody>
          <a:bodyPr/>
          <a:lstStyle/>
          <a:p>
            <a:r>
              <a:rPr lang="en-US" dirty="0" smtClean="0"/>
              <a:t>Thank you</a:t>
            </a:r>
            <a:endParaRPr lang="en-IN" dirty="0"/>
          </a:p>
        </p:txBody>
      </p:sp>
    </p:spTree>
    <p:extLst>
      <p:ext uri="{BB962C8B-B14F-4D97-AF65-F5344CB8AC3E}">
        <p14:creationId xmlns:p14="http://schemas.microsoft.com/office/powerpoint/2010/main" val="378371554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259</TotalTime>
  <Words>938</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Google Sans Text</vt:lpstr>
      <vt:lpstr>Trebuchet MS</vt:lpstr>
      <vt:lpstr>Wingdings 3</vt:lpstr>
      <vt:lpstr>Facet</vt:lpstr>
      <vt:lpstr>Parkinson’s Disease Prediction Using Machine Learning</vt:lpstr>
      <vt:lpstr>Problem Statement</vt:lpstr>
      <vt:lpstr>Project Objective</vt:lpstr>
      <vt:lpstr>Dataset Description</vt:lpstr>
      <vt:lpstr>Data Pre-processing</vt:lpstr>
      <vt:lpstr>EDA &amp; Visual Insights</vt:lpstr>
      <vt:lpstr>Methodology</vt:lpstr>
      <vt:lpstr>Models Implemented</vt:lpstr>
      <vt:lpstr>Model Evaluation</vt:lpstr>
      <vt:lpstr>Prediction Demo</vt:lpstr>
      <vt:lpstr>Results, Conclusion &amp; Limits</vt:lpstr>
      <vt:lpstr>Future Scope &amp; GitHub</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Parkinson’s Disease Prediction Using Machine Learning</dc:title>
  <dc:creator>Admin</dc:creator>
  <cp:lastModifiedBy>Admin</cp:lastModifiedBy>
  <cp:revision>18</cp:revision>
  <dcterms:created xsi:type="dcterms:W3CDTF">2026-08-25T12:50:23Z</dcterms:created>
  <dcterms:modified xsi:type="dcterms:W3CDTF">2026-08-25T18:32:30Z</dcterms:modified>
</cp:coreProperties>
</file>